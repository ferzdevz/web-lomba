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99616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47088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9456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4203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89504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36976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84448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3192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939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26864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74336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21808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1675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64224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11696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59168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0664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5411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01584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49056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96528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147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38944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6416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888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81360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28832" y="36576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720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467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52144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499616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47088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4203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889504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236976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584448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93192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7939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26864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974336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321808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66928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1675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64224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11696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59168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75411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01584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49056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96528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14400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49147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838944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186416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33888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881360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228832" y="530352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5720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0467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52144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499616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47088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19456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54203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889504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236976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584448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93192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7939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626864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974336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21808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66928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01675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64224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711696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059168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75411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101584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449056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796528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14400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49147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838944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186416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533888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881360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228832" y="694944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5720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0467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52144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499616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847088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19456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54203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889504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236976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584448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93192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27939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626864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974336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321808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66928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01675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364224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711696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059168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40664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75411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101584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449056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796528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14400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49147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838944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186416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533888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881360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228832" y="859536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5720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0467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152144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499616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847088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19456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54203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889504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236976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584448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93192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27939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626864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974336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321808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66928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1675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364224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711696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059168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740664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75411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101584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8449056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8796528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14400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49147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838944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186416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533888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881360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228832" y="1024128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5720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80467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52144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499616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847088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19456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254203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889504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236976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584448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393192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427939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4626864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4974336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5321808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566928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601675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6364224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6711696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059168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40664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75411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101584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449056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796528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914400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949147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9838944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0186416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0533888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0881360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1228832" y="118872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EMOSTFET 11  •  WEB DESIGN COMPETITION  •  2026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7200" y="1325880"/>
            <a:ext cx="1124712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57200" y="15544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200"/>
              </a:lnSpc>
              <a:defRPr sz="6800" b="1">
                <a:solidFill>
                  <a:srgbClr val="FFFFFF"/>
                </a:solidFill>
                <a:latin typeface="Inter"/>
              </a:defRPr>
            </a:pPr>
            <a:r>
              <a:t>ServisLokal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Inter"/>
              </a:defRPr>
            </a:pPr>
            <a:r>
              <a:t>Marketplace Jasa Lokal Nasional</a:t>
            </a:r>
          </a:p>
          <a:p>
            <a:pPr>
              <a:spcBef>
                <a:spcPts val="1200"/>
              </a:spcBef>
              <a:defRPr sz="1000">
                <a:solidFill>
                  <a:srgbClr val="FFFFFF"/>
                </a:solidFill>
                <a:latin typeface="JetBrains Mono"/>
              </a:defRPr>
            </a:pPr>
            <a:r>
              <a:t>38 Provinsi  •  Aceh → Papua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8046720" y="15544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822960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TEMA LOMBA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229600" y="2011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 i="0">
                <a:solidFill>
                  <a:srgbClr val="0A0A0A"/>
                </a:solidFill>
                <a:latin typeface="Inter"/>
              </a:defRPr>
            </a:pPr>
            <a:r>
              <a:t>Designing Impactful</a:t>
            </a:r>
            <a:br/>
            <a:r>
              <a:t>Digital Solutions</a:t>
            </a:r>
            <a:br/>
            <a:r>
              <a:t>for Everyday Life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229600" y="2834640"/>
            <a:ext cx="329184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229600" y="2971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Slogan:  Jasa terbaik dari orang</a:t>
            </a:r>
            <a:br/>
            <a:r>
              <a:t>terpercaya di sekitarmu.</a:t>
            </a:r>
            <a:br/>
            <a:br/>
            <a:r>
              <a:t>Prototype live, bukan Figma.</a:t>
            </a:r>
            <a:br/>
            <a:r>
              <a:t>weblomba-rouge.vercel.app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57200" y="4754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FFFFFF"/>
                </a:solidFill>
                <a:latin typeface="Inter"/>
              </a:defRPr>
            </a:pPr>
            <a:r>
              <a:t>46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57200" y="5166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JASA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920240" y="4754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FFFFFF"/>
                </a:solidFill>
                <a:latin typeface="Inter"/>
              </a:defRPr>
            </a:pPr>
            <a:r>
              <a:t>23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920240" y="5166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PROVIDER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383280" y="4754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FFFFFF"/>
                </a:solidFill>
                <a:latin typeface="Inter"/>
              </a:defRPr>
            </a:pPr>
            <a:r>
              <a:t>38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383280" y="5166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PROVINSI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846320" y="4754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FFFFFF"/>
                </a:solidFill>
                <a:latin typeface="Inter"/>
              </a:defRPr>
            </a:pPr>
            <a:r>
              <a:t>149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846320" y="5166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TESTS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57200" y="64008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TIM SERVISLOKAL  •  31 AGUSTUS 2026  •  PRESENTASI GRAND FINAL 5 MENIT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902952" y="6400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LIVE DEMO  →  SCAN QR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AGENDA  •  20%  30%  25%  15% 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№02/34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Agenda: 34 Slide, 1 Cerita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200" b="1" i="0">
                <a:solidFill>
                  <a:srgbClr val="0A0A0A"/>
                </a:solidFill>
                <a:latin typeface="Inter"/>
              </a:defRPr>
            </a:pPr>
            <a:r>
              <a:t>Dari Masalah → Solusi → Dampak</a:t>
            </a:r>
            <a:br/>
            <a:r>
              <a:t>Terstruktur sesuai rubrik penilaian juri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FF6B35"/>
                </a:solidFill>
                <a:latin typeface="Inter"/>
              </a:defRPr>
            </a:pPr>
            <a:r>
              <a:t>01–05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40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PEMAHAMAN MASALAH 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963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6 masalah + benchmark + data wawancara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5669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986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FF6B35"/>
                </a:solidFill>
                <a:latin typeface="Inter"/>
              </a:defRPr>
            </a:pPr>
            <a:r>
              <a:t>06–07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986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TARGET &amp; PETA 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54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4 persona + peta provinsi + city indexed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01568"/>
            <a:ext cx="5669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57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FF6B35"/>
                </a:solidFill>
                <a:latin typeface="Inter"/>
              </a:defRPr>
            </a:pPr>
            <a:r>
              <a:t>08–13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570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UX FLOW 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130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Katalog → Detail → Checkout → Orders →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59936"/>
            <a:ext cx="5669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153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FF6B35"/>
                </a:solidFill>
                <a:latin typeface="Inter"/>
              </a:defRPr>
            </a:pPr>
            <a:r>
              <a:t>14–16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153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UI SYSTEM 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714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Titik Terang + token + 3 halaman hero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18304"/>
            <a:ext cx="5669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737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FF6B35"/>
                </a:solidFill>
                <a:latin typeface="Inter"/>
              </a:defRPr>
            </a:pPr>
            <a:r>
              <a:t>17–21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737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TEKNOLOGI &amp; KUALITAS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1297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20 API + FSM 409 + 149 tests + Live sin1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76672"/>
            <a:ext cx="5669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532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FF6B35"/>
                </a:solidFill>
                <a:latin typeface="Inter"/>
              </a:defRPr>
            </a:pPr>
            <a:r>
              <a:t>22–34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532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KREATIVITAS + BISNIS 15% + Q&amp;A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7881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6E665D"/>
                </a:solidFill>
                <a:latin typeface="Inter"/>
              </a:defRPr>
            </a:pPr>
            <a:r>
              <a:t>Moat + Dampak + Roadmap + Demo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035040"/>
            <a:ext cx="5669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2240280"/>
            <a:ext cx="4846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24231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RUBRIK PENILAIAN — GUIDE 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788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0A0A0A"/>
                </a:solidFill>
                <a:latin typeface="Inter"/>
              </a:defRPr>
            </a:pPr>
            <a:r>
              <a:t>Pemahaman Masalah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7889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20%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3008376"/>
            <a:ext cx="1219200" cy="1016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51520" y="3008376"/>
            <a:ext cx="609600" cy="101600"/>
          </a:xfrm>
          <a:prstGeom prst="rect">
            <a:avLst/>
          </a:prstGeom>
          <a:solidFill>
            <a:srgbClr val="F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3291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0A0A0A"/>
                </a:solidFill>
                <a:latin typeface="Inter"/>
              </a:defRPr>
            </a:pPr>
            <a:r>
              <a:t>User Experience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32918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30%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3511296"/>
            <a:ext cx="1828800" cy="10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0" y="3511296"/>
            <a:ext cx="0" cy="101600"/>
          </a:xfrm>
          <a:prstGeom prst="rect">
            <a:avLst/>
          </a:prstGeom>
          <a:solidFill>
            <a:srgbClr val="F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0" y="37947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0A0A0A"/>
                </a:solidFill>
                <a:latin typeface="Inter"/>
              </a:defRPr>
            </a:pPr>
            <a:r>
              <a:t>User Interface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7947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25%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4014216"/>
            <a:ext cx="1524000" cy="10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56320" y="4014216"/>
            <a:ext cx="304800" cy="101600"/>
          </a:xfrm>
          <a:prstGeom prst="rect">
            <a:avLst/>
          </a:prstGeom>
          <a:solidFill>
            <a:srgbClr val="F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42976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0A0A0A"/>
                </a:solidFill>
                <a:latin typeface="Inter"/>
              </a:defRPr>
            </a:pPr>
            <a:r>
              <a:t>Kreativitas &amp; Inovasi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42976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15%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0" y="4517136"/>
            <a:ext cx="914400" cy="1016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46720" y="4517136"/>
            <a:ext cx="914400" cy="101600"/>
          </a:xfrm>
          <a:prstGeom prst="rect">
            <a:avLst/>
          </a:prstGeom>
          <a:solidFill>
            <a:srgbClr val="F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48006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0A0A0A"/>
                </a:solidFill>
                <a:latin typeface="Inter"/>
              </a:defRPr>
            </a:pPr>
            <a:r>
              <a:t>Presentasi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48006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10%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5020056"/>
            <a:ext cx="609600" cy="1016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41920" y="5020056"/>
            <a:ext cx="1219200" cy="101600"/>
          </a:xfrm>
          <a:prstGeom prst="rect">
            <a:avLst/>
          </a:prstGeom>
          <a:solidFill>
            <a:srgbClr val="F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0" y="55778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1">
                <a:solidFill>
                  <a:srgbClr val="6E665D"/>
                </a:solidFill>
                <a:latin typeface="Inter"/>
              </a:defRPr>
            </a:pPr>
            <a:r>
              <a:t>Setiap slide diberi tag rubrik — juri langsung lihat bobot tercover.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OUTPUT LOMBA  •  GUIDE BOOK 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№03/34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01  OUTPUT WAJIB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Prototype + Dokumen Penjelasan — 100% terpenuhi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Website Live</a:t>
            </a:r>
            <a:br/>
            <a:r>
              <a:t>Interaktif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Next 15.5.24 — bukan Figma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13 pages, klik nyata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weblomba-rouge.vercel.app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200 OK curl verified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DOKUMEN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16 Halaman A4</a:t>
            </a:r>
            <a:br/>
            <a:r>
              <a:t>Lengkap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Latar belakang 6 masalah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Persona 4 + Peta 38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User flow diagram HD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Solusi desain per fitur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Impactful for</a:t>
            </a:r>
            <a:br/>
            <a:r>
              <a:t>Everyday Life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Marketplace jasa harian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Tukang, bersih, listrik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Dari spanduk → digital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Ekonomi tetangga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PENGUMPULAN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Drive 25–30 Agt</a:t>
            </a:r>
            <a:br/>
            <a:r>
              <a:t>Siap Grand Final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Repo github public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PDF + PPT + Prototype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Video demo 90 detik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Script 5 menit siap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PEMAHAMAN MASALAH 20%  •  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№04/34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02  6 MASALAH NYATA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Kenapa jasa lokal masih offline — wawancara 15 orang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MASALAH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Cari Tukang</a:t>
            </a:r>
            <a:br/>
            <a:r>
              <a:t>Via Status WA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Tidak ada katalog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Harga tanya dulu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 tidak ada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Takut ditipu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MASALAH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Provider Sepi</a:t>
            </a:r>
            <a:br/>
            <a:r>
              <a:t>Hanya Spanduk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Hendri Bangka: 2 order/bulan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Jangkauan 1 kelurahan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Tidak ada etalase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Saingan tidak terlihat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MASALAH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Banding Harga</a:t>
            </a:r>
            <a:br/>
            <a:r>
              <a:t>Susuh &amp; Lama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Harus chat 5 tukang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Format harga beda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Estimasi tidak jelas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1 hari vs 5 menit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MASALAH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Luar Jawa</a:t>
            </a:r>
            <a:br/>
            <a:r>
              <a:t>Tak Tercover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38 provinsi, fokus Jawa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Pangkal Pinang tidak muncul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Filter kota tidak ada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Bahasa tidak lokal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PEMAHAMAN MASALAH 20%  • 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№05/34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03  BENCHMARK 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Bukan Gojek — bukan WA group — ini ServisLokal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69748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WA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SEBELUM</a:t>
            </a:r>
            <a:br/>
            <a:r>
              <a:t>Tidak terukur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Katalog: tidak ada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Harga: tanya DM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Rating: 0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Jangkauan: 1 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Gojek/Grab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TRANSPORT</a:t>
            </a:r>
            <a:br/>
            <a:r>
              <a:t>Fee 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Fokus ride &amp; food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Home-service bukan inti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Fee tinggi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Filter provinsi tidak 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Thumbtack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REFERENSI</a:t>
            </a:r>
            <a:br/>
            <a:r>
              <a:t>Bukan lokal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Model bagus, US only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Tidak ada 38 provinsi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Tidak ada WIB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Bahasa Inggris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ServisLokal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SOLUSI</a:t>
            </a:r>
            <a:br/>
            <a:r>
              <a:t>0% fee MVP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46 jasa, 38 provinsi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Harga formatIDR hero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 4.48 + FSM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Kota indexed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TARGET PENGGUNA  •  PERSONA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№06/34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04  3 ROLE, 1 TUJUAN JELAS PER 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Persona — bukan asal-asalan, dari wawancara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514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5146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7919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CITRA,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6207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Ibu RT — Bangka Belitung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832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E665D"/>
                </a:solidFill>
                <a:latin typeface="Inter"/>
              </a:defRPr>
            </a:pPr>
            <a:r>
              <a:t>Butuh bersih mingguan, takut provider tidak datang, mau banding harga 5 menit.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349240"/>
            <a:ext cx="1097280" cy="2286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0A0A0A"/>
                </a:solidFill>
                <a:latin typeface="Inter"/>
              </a:defRPr>
            </a:pPr>
            <a:r>
              <a:t>DASHBOARD CUSTOMER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57600" y="2514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5146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67919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HENDRI, 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86207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Tukang AC — Pangkal Pinang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320040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33832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E665D"/>
                </a:solidFill>
                <a:latin typeface="Inter"/>
              </a:defRPr>
            </a:pPr>
            <a:r>
              <a:t>Sepi, hanya spanduk. Mau etalase digital, terima order dari 38 provinsi.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5349240"/>
            <a:ext cx="1097280" cy="2286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5349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0A0A0A"/>
                </a:solidFill>
                <a:latin typeface="Inter"/>
              </a:defRPr>
            </a:pPr>
            <a:r>
              <a:t>DASHBOARD PROVIDER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29400" y="2514600"/>
            <a:ext cx="548640" cy="54864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25146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CUSTOMER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67919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SARI, 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86207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Mahasiswa — Bandung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320040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3832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E665D"/>
                </a:solidFill>
                <a:latin typeface="Inter"/>
              </a:defRPr>
            </a:pPr>
            <a:r>
              <a:t>Kos AC bocor, butuh cepat, banding harga &amp; rating sebelum chat.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5349240"/>
            <a:ext cx="1097280" cy="2286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5349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0A0A0A"/>
                </a:solidFill>
                <a:latin typeface="Inter"/>
              </a:defRPr>
            </a:pPr>
            <a:r>
              <a:t>DASHBOARD CUSTOMER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72600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01200" y="2514600"/>
            <a:ext cx="548640" cy="54864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25146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267919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286207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Moderator — Jakarta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320040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33832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E665D"/>
                </a:solidFill>
                <a:latin typeface="Inter"/>
              </a:defRPr>
            </a:pPr>
            <a:r>
              <a:t>Kurasi jasa, cegah spam, lihat KPI &amp; export CSV.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5349240"/>
            <a:ext cx="1097280" cy="2286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5349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0A0A0A"/>
                </a:solidFill>
                <a:latin typeface="Inter"/>
              </a:defRPr>
            </a:pPr>
            <a:r>
              <a:t>DASHBOARD 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PETA 38 PROVINSI  •  lib/provinces.ts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№07/34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05  NASIONAL — DARI ACEH → PAPUA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38 provinsi, 1 filter — bukan gimmick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6692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46126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231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Aceh</a:t>
            </a:r>
          </a:p>
        </p:txBody>
      </p:sp>
      <p:sp>
        <p:nvSpPr>
          <p:cNvPr id="12" name="Oval 11"/>
          <p:cNvSpPr/>
          <p:nvPr/>
        </p:nvSpPr>
        <p:spPr>
          <a:xfrm>
            <a:off x="2423160" y="246126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2" y="24231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Sumatera Utara</a:t>
            </a:r>
          </a:p>
        </p:txBody>
      </p:sp>
      <p:sp>
        <p:nvSpPr>
          <p:cNvPr id="14" name="Oval 13"/>
          <p:cNvSpPr/>
          <p:nvPr/>
        </p:nvSpPr>
        <p:spPr>
          <a:xfrm>
            <a:off x="4206240" y="246126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24231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Sumatera Barat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71729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67919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Riau</a:t>
            </a:r>
          </a:p>
        </p:txBody>
      </p:sp>
      <p:sp>
        <p:nvSpPr>
          <p:cNvPr id="18" name="Oval 17"/>
          <p:cNvSpPr/>
          <p:nvPr/>
        </p:nvSpPr>
        <p:spPr>
          <a:xfrm>
            <a:off x="2423160" y="271729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87752" y="267919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Jambi</a:t>
            </a:r>
          </a:p>
        </p:txBody>
      </p:sp>
      <p:sp>
        <p:nvSpPr>
          <p:cNvPr id="20" name="Oval 19"/>
          <p:cNvSpPr/>
          <p:nvPr/>
        </p:nvSpPr>
        <p:spPr>
          <a:xfrm>
            <a:off x="4206240" y="271729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267919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Sumatera Selatan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297332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293522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Bengkulu</a:t>
            </a:r>
          </a:p>
        </p:txBody>
      </p:sp>
      <p:sp>
        <p:nvSpPr>
          <p:cNvPr id="24" name="Oval 23"/>
          <p:cNvSpPr/>
          <p:nvPr/>
        </p:nvSpPr>
        <p:spPr>
          <a:xfrm>
            <a:off x="2423160" y="297332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87752" y="293522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Lampung</a:t>
            </a:r>
          </a:p>
        </p:txBody>
      </p:sp>
      <p:sp>
        <p:nvSpPr>
          <p:cNvPr id="26" name="Oval 25"/>
          <p:cNvSpPr/>
          <p:nvPr/>
        </p:nvSpPr>
        <p:spPr>
          <a:xfrm>
            <a:off x="4206240" y="2973324"/>
            <a:ext cx="63500" cy="635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293522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1" i="0">
                <a:solidFill>
                  <a:srgbClr val="FF6B35"/>
                </a:solidFill>
                <a:latin typeface="Inter"/>
              </a:defRPr>
            </a:pPr>
            <a:r>
              <a:t>Kep. Bangka Belitung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3229356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19125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Kep. Riau</a:t>
            </a:r>
          </a:p>
        </p:txBody>
      </p:sp>
      <p:sp>
        <p:nvSpPr>
          <p:cNvPr id="30" name="Oval 29"/>
          <p:cNvSpPr/>
          <p:nvPr/>
        </p:nvSpPr>
        <p:spPr>
          <a:xfrm>
            <a:off x="2423160" y="3229356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87752" y="319125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DKI Jakarta</a:t>
            </a:r>
          </a:p>
        </p:txBody>
      </p:sp>
      <p:sp>
        <p:nvSpPr>
          <p:cNvPr id="32" name="Oval 31"/>
          <p:cNvSpPr/>
          <p:nvPr/>
        </p:nvSpPr>
        <p:spPr>
          <a:xfrm>
            <a:off x="4206240" y="3229356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319125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Jawa Barat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3485388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344728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Jawa Tengah</a:t>
            </a:r>
          </a:p>
        </p:txBody>
      </p:sp>
      <p:sp>
        <p:nvSpPr>
          <p:cNvPr id="36" name="Oval 35"/>
          <p:cNvSpPr/>
          <p:nvPr/>
        </p:nvSpPr>
        <p:spPr>
          <a:xfrm>
            <a:off x="2423160" y="3485388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87752" y="344728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DI Yogyakarta</a:t>
            </a:r>
          </a:p>
        </p:txBody>
      </p:sp>
      <p:sp>
        <p:nvSpPr>
          <p:cNvPr id="38" name="Oval 37"/>
          <p:cNvSpPr/>
          <p:nvPr/>
        </p:nvSpPr>
        <p:spPr>
          <a:xfrm>
            <a:off x="4206240" y="3485388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2" y="344728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Jawa Timur</a:t>
            </a:r>
          </a:p>
        </p:txBody>
      </p:sp>
      <p:sp>
        <p:nvSpPr>
          <p:cNvPr id="40" name="Oval 39"/>
          <p:cNvSpPr/>
          <p:nvPr/>
        </p:nvSpPr>
        <p:spPr>
          <a:xfrm>
            <a:off x="640080" y="374142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37033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Banten</a:t>
            </a:r>
          </a:p>
        </p:txBody>
      </p:sp>
      <p:sp>
        <p:nvSpPr>
          <p:cNvPr id="42" name="Oval 41"/>
          <p:cNvSpPr/>
          <p:nvPr/>
        </p:nvSpPr>
        <p:spPr>
          <a:xfrm>
            <a:off x="2423160" y="374142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87752" y="37033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Bali</a:t>
            </a:r>
          </a:p>
        </p:txBody>
      </p:sp>
      <p:sp>
        <p:nvSpPr>
          <p:cNvPr id="44" name="Oval 43"/>
          <p:cNvSpPr/>
          <p:nvPr/>
        </p:nvSpPr>
        <p:spPr>
          <a:xfrm>
            <a:off x="4206240" y="374142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0832" y="37033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NTB</a:t>
            </a:r>
          </a:p>
        </p:txBody>
      </p:sp>
      <p:sp>
        <p:nvSpPr>
          <p:cNvPr id="46" name="Oval 45"/>
          <p:cNvSpPr/>
          <p:nvPr/>
        </p:nvSpPr>
        <p:spPr>
          <a:xfrm>
            <a:off x="640080" y="399745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" y="395935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NTT</a:t>
            </a:r>
          </a:p>
        </p:txBody>
      </p:sp>
      <p:sp>
        <p:nvSpPr>
          <p:cNvPr id="48" name="Oval 47"/>
          <p:cNvSpPr/>
          <p:nvPr/>
        </p:nvSpPr>
        <p:spPr>
          <a:xfrm>
            <a:off x="2423160" y="399745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87752" y="395935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Kalbar</a:t>
            </a:r>
          </a:p>
        </p:txBody>
      </p:sp>
      <p:sp>
        <p:nvSpPr>
          <p:cNvPr id="50" name="Oval 49"/>
          <p:cNvSpPr/>
          <p:nvPr/>
        </p:nvSpPr>
        <p:spPr>
          <a:xfrm>
            <a:off x="4206240" y="399745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70832" y="395935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Kalteng</a:t>
            </a:r>
          </a:p>
        </p:txBody>
      </p:sp>
      <p:sp>
        <p:nvSpPr>
          <p:cNvPr id="52" name="Oval 51"/>
          <p:cNvSpPr/>
          <p:nvPr/>
        </p:nvSpPr>
        <p:spPr>
          <a:xfrm>
            <a:off x="640080" y="425348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" y="421538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Kalsel</a:t>
            </a:r>
          </a:p>
        </p:txBody>
      </p:sp>
      <p:sp>
        <p:nvSpPr>
          <p:cNvPr id="54" name="Oval 53"/>
          <p:cNvSpPr/>
          <p:nvPr/>
        </p:nvSpPr>
        <p:spPr>
          <a:xfrm>
            <a:off x="2423160" y="425348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87752" y="421538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Kaltim</a:t>
            </a:r>
          </a:p>
        </p:txBody>
      </p:sp>
      <p:sp>
        <p:nvSpPr>
          <p:cNvPr id="56" name="Oval 55"/>
          <p:cNvSpPr/>
          <p:nvPr/>
        </p:nvSpPr>
        <p:spPr>
          <a:xfrm>
            <a:off x="4206240" y="425348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70832" y="421538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Kaltara</a:t>
            </a:r>
          </a:p>
        </p:txBody>
      </p:sp>
      <p:sp>
        <p:nvSpPr>
          <p:cNvPr id="58" name="Oval 57"/>
          <p:cNvSpPr/>
          <p:nvPr/>
        </p:nvSpPr>
        <p:spPr>
          <a:xfrm>
            <a:off x="640080" y="4509516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447141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Sulut</a:t>
            </a:r>
          </a:p>
        </p:txBody>
      </p:sp>
      <p:sp>
        <p:nvSpPr>
          <p:cNvPr id="60" name="Oval 59"/>
          <p:cNvSpPr/>
          <p:nvPr/>
        </p:nvSpPr>
        <p:spPr>
          <a:xfrm>
            <a:off x="2423160" y="4509516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87752" y="447141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Sulteng</a:t>
            </a:r>
          </a:p>
        </p:txBody>
      </p:sp>
      <p:sp>
        <p:nvSpPr>
          <p:cNvPr id="62" name="Oval 61"/>
          <p:cNvSpPr/>
          <p:nvPr/>
        </p:nvSpPr>
        <p:spPr>
          <a:xfrm>
            <a:off x="4206240" y="4509516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70832" y="447141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Sulsel</a:t>
            </a:r>
          </a:p>
        </p:txBody>
      </p:sp>
      <p:sp>
        <p:nvSpPr>
          <p:cNvPr id="64" name="Oval 63"/>
          <p:cNvSpPr/>
          <p:nvPr/>
        </p:nvSpPr>
        <p:spPr>
          <a:xfrm>
            <a:off x="640080" y="4765548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2" y="472744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Sultra</a:t>
            </a:r>
          </a:p>
        </p:txBody>
      </p:sp>
      <p:sp>
        <p:nvSpPr>
          <p:cNvPr id="66" name="Oval 65"/>
          <p:cNvSpPr/>
          <p:nvPr/>
        </p:nvSpPr>
        <p:spPr>
          <a:xfrm>
            <a:off x="2423160" y="4765548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87752" y="472744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Gorontalo</a:t>
            </a:r>
          </a:p>
        </p:txBody>
      </p:sp>
      <p:sp>
        <p:nvSpPr>
          <p:cNvPr id="68" name="Oval 67"/>
          <p:cNvSpPr/>
          <p:nvPr/>
        </p:nvSpPr>
        <p:spPr>
          <a:xfrm>
            <a:off x="4206240" y="4765548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70832" y="472744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Sulbar</a:t>
            </a:r>
          </a:p>
        </p:txBody>
      </p:sp>
      <p:sp>
        <p:nvSpPr>
          <p:cNvPr id="70" name="Oval 69"/>
          <p:cNvSpPr/>
          <p:nvPr/>
        </p:nvSpPr>
        <p:spPr>
          <a:xfrm>
            <a:off x="640080" y="502158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4672" y="49834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Maluku</a:t>
            </a:r>
          </a:p>
        </p:txBody>
      </p:sp>
      <p:sp>
        <p:nvSpPr>
          <p:cNvPr id="72" name="Oval 71"/>
          <p:cNvSpPr/>
          <p:nvPr/>
        </p:nvSpPr>
        <p:spPr>
          <a:xfrm>
            <a:off x="2423160" y="502158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87752" y="49834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Maluku Utara</a:t>
            </a:r>
          </a:p>
        </p:txBody>
      </p:sp>
      <p:sp>
        <p:nvSpPr>
          <p:cNvPr id="74" name="Oval 73"/>
          <p:cNvSpPr/>
          <p:nvPr/>
        </p:nvSpPr>
        <p:spPr>
          <a:xfrm>
            <a:off x="4206240" y="5021580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70832" y="498348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Papua</a:t>
            </a:r>
          </a:p>
        </p:txBody>
      </p:sp>
      <p:sp>
        <p:nvSpPr>
          <p:cNvPr id="76" name="Oval 75"/>
          <p:cNvSpPr/>
          <p:nvPr/>
        </p:nvSpPr>
        <p:spPr>
          <a:xfrm>
            <a:off x="640080" y="527761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4672" y="523951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Papua Barat</a:t>
            </a:r>
          </a:p>
        </p:txBody>
      </p:sp>
      <p:sp>
        <p:nvSpPr>
          <p:cNvPr id="78" name="Oval 77"/>
          <p:cNvSpPr/>
          <p:nvPr/>
        </p:nvSpPr>
        <p:spPr>
          <a:xfrm>
            <a:off x="2423160" y="527761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87752" y="523951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Papua Tengah</a:t>
            </a:r>
          </a:p>
        </p:txBody>
      </p:sp>
      <p:sp>
        <p:nvSpPr>
          <p:cNvPr id="80" name="Oval 79"/>
          <p:cNvSpPr/>
          <p:nvPr/>
        </p:nvSpPr>
        <p:spPr>
          <a:xfrm>
            <a:off x="4206240" y="5277612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70832" y="523951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Papua Pegunungan</a:t>
            </a:r>
          </a:p>
        </p:txBody>
      </p:sp>
      <p:sp>
        <p:nvSpPr>
          <p:cNvPr id="82" name="Oval 81"/>
          <p:cNvSpPr/>
          <p:nvPr/>
        </p:nvSpPr>
        <p:spPr>
          <a:xfrm>
            <a:off x="640080" y="553364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4672" y="549554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Papua Selatan</a:t>
            </a:r>
          </a:p>
        </p:txBody>
      </p:sp>
      <p:sp>
        <p:nvSpPr>
          <p:cNvPr id="84" name="Oval 83"/>
          <p:cNvSpPr/>
          <p:nvPr/>
        </p:nvSpPr>
        <p:spPr>
          <a:xfrm>
            <a:off x="2423160" y="5533644"/>
            <a:ext cx="63500" cy="635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87752" y="549554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50" b="0" i="0">
                <a:solidFill>
                  <a:srgbClr val="0A0A0A"/>
                </a:solidFill>
                <a:latin typeface="Inter"/>
              </a:defRPr>
            </a:pPr>
            <a:r>
              <a:t>Papua Barat Daya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83680" y="2194560"/>
            <a:ext cx="5120640" cy="374903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0" y="2423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IMPLEMENTASI — CITY INDEXED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0" y="2743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400" b="1" i="0">
                <a:solidFill>
                  <a:srgbClr val="FFFFFF"/>
                </a:solidFill>
                <a:latin typeface="Inter"/>
              </a:defRPr>
            </a:pPr>
            <a:r>
              <a:t>Kenapa city terpisah?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0" y="32918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FFFFFF"/>
                </a:solidFill>
                <a:latin typeface="Inter"/>
              </a:defRPr>
            </a:pPr>
            <a:r>
              <a:t>location contains “Jl. Depati Amir No. 12” → semua ter-match.</a:t>
            </a:r>
            <a:br/>
            <a:r>
              <a:t>city = “pangkal pinang” lowercased, @@index([role,city])</a:t>
            </a:r>
            <a:br/>
            <a:r>
              <a:t>Filter: provider.city contains loc.lower → O(log n)</a:t>
            </a:r>
            <a:br/>
            <a:r>
              <a:t>Backfill: prisma/backfill-city.js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58000" y="4754880"/>
            <a:ext cx="457200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58000" y="4892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FF6B35"/>
                </a:solidFill>
                <a:latin typeface="Inter"/>
              </a:defRPr>
            </a:pPr>
            <a:r>
              <a:t>46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0" y="5212080"/>
            <a:ext cx="1188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JASA AKTIF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1040" y="4892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FF6B35"/>
                </a:solidFill>
                <a:latin typeface="Inter"/>
              </a:defRPr>
            </a:pPr>
            <a:r>
              <a:t>23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21040" y="5212080"/>
            <a:ext cx="1188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PROVIDER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4892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FF6B35"/>
                </a:solidFill>
                <a:latin typeface="Inter"/>
              </a:defRPr>
            </a:pPr>
            <a:r>
              <a:t>21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84080" y="5212080"/>
            <a:ext cx="1188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KOTA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USER FLOW  •  ALUR LENGKAP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№08/34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06  FLOW 1 DIAGRAM — DOKUMEN PDF HAL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Landing → Katalog → Detail → Checkout → Orders → Kanban →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41732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Landing</a:t>
            </a:r>
            <a:br/>
            <a:r>
              <a:t>38 pills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20" y="2468880"/>
            <a:ext cx="3200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148840" y="2395728"/>
            <a:ext cx="137160" cy="146304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4560" y="2103120"/>
            <a:ext cx="141732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Katalog</a:t>
            </a:r>
            <a:br/>
            <a:r>
              <a:t>?location=Bangka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2468880"/>
            <a:ext cx="3200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3886200" y="2395728"/>
            <a:ext cx="137160" cy="146304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192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2103120"/>
            <a:ext cx="141732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Detail</a:t>
            </a:r>
            <a:br/>
            <a:r>
              <a:t>/service/[slug]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2468880"/>
            <a:ext cx="3200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623560" y="2395728"/>
            <a:ext cx="137160" cy="146304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0" y="2103120"/>
            <a:ext cx="141732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Checkout</a:t>
            </a:r>
            <a:br/>
            <a:r>
              <a:t>Alamat wajib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2468880"/>
            <a:ext cx="3200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7360920" y="2395728"/>
            <a:ext cx="137160" cy="146304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0664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2103120"/>
            <a:ext cx="141732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Orders</a:t>
            </a:r>
            <a:br/>
            <a:r>
              <a:t>FSM + Chat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3960" y="2468880"/>
            <a:ext cx="3200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9098280" y="2395728"/>
            <a:ext cx="137160" cy="146304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2103120"/>
            <a:ext cx="141732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Kanban</a:t>
            </a:r>
            <a:br/>
            <a:r>
              <a:t>Drag 3 kolom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61320" y="2468880"/>
            <a:ext cx="3200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10835640" y="2395728"/>
            <a:ext cx="137160" cy="146304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81360" y="21031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881360" y="2103120"/>
            <a:ext cx="141732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0" y="224028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Review</a:t>
            </a:r>
            <a:br/>
            <a:r>
              <a:t>60 hari</a:t>
            </a:r>
          </a:p>
        </p:txBody>
      </p:sp>
      <p:pic>
        <p:nvPicPr>
          <p:cNvPr id="42" name="Picture 41" descr="User-Flow-FullHD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11274552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UX 30%  •  KATALOG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№09/34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07  KATALOG — 5 MENIT vs 1 HARI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Filter yang benar-benar bekerja — city indexed + TanStack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6 Kategori +</a:t>
            </a:r>
            <a:br/>
            <a:r>
              <a:t>38 Lokasi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pills kategori 6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LocationAutocomplete 38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filtered 8 max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debounce 250ms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Anti ReDoS</a:t>
            </a:r>
            <a:br/>
            <a:r>
              <a:t>Escape Regex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slice 50, 5 token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escapeRegex + 30 char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OR title/desc/provider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60/mnt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4 Mode</a:t>
            </a:r>
            <a:br/>
            <a:r>
              <a:t>Price &amp; Rating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termurah-termahal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 tertinggi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terbaru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keepPreviousData 60%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12/page</a:t>
            </a:r>
            <a:br/>
            <a:r>
              <a:t>AggregateRaw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findMany 12/page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city distinct aggregate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-99.8% payload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gap-8 auto-rows-fr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UX 30%  •  DETAIL &amp;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№10/34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08  DETAIL → CHECKOUT — 2 LANGKAH JUJUR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Bukan 3 langkah menipu — Detail + Alamat &amp; Bayar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JSON-LD +</a:t>
            </a:r>
            <a:br/>
            <a:r>
              <a:t>Galeri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generateMetadata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aggregateRating 4.48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noindex ARCHIVED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Breadcrumb Beranda&gt;Kat&gt;Judul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CHECKOUT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Alamat Wajib</a:t>
            </a:r>
            <a:br/>
            <a:r>
              <a:t>City Valid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min 5 char + cityFromLocation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deadline Besok +07:00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3 metode transfer/ewallet/cod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anti self-order 400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60 Hari Window</a:t>
            </a:r>
            <a:br/>
            <a:r>
              <a:t>Recompute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RatingStars + distribusi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Radio roving a11y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hanya COMPLETED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transaksi ratingAvg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TRUST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Batal Gratis</a:t>
            </a:r>
            <a:br/>
            <a:r>
              <a:t>Chat Transparan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FSM PENDING → CANCELLED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Timeline ORDER_STEPS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polling 15s + 60s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message max-h-[50vh]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UX 30%  •  ORDERS &amp; KANBAN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№11/34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09  PESANAN — FSM GUARD 409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Dari PENDING ke COMPLETED — tanpa race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FSM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4 Status</a:t>
            </a:r>
            <a:br/>
            <a:r>
              <a:t>Terminal Guard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PENDING→IN_PROGRESS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IN_PROGRESS→COMPLETED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CANCELLED kapan saja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COMPLETED terminal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Optimistic</a:t>
            </a:r>
            <a:br/>
            <a:r>
              <a:t>409 Conflict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updateMany where status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count 0 → 409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transaksi completedAt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computeRatingAggregate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KANBAN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3 Kolom</a:t>
            </a:r>
            <a:br/>
            <a:r>
              <a:t>Drag Grip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PENDING/IN_PROGRESS/COMPLETED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dnd-kit Pointer 6px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Touch 250ms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hanya HANDLE draggable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Polling</a:t>
            </a:r>
            <a:br/>
            <a:r>
              <a:t>Bukan WebSocket MVP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/messages 40/mnt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guard isCustomer||isProvider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sameId string compare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siap Pusher &lt;100ms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UX 30%  •  DASHBOARD 3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№12/34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10  DASHBOARD — 1 TUJUAN JELAS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Admin Stripe — Provider Fiverr — Customer Gojek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/dashboard/customer</a:t>
            </a:r>
            <a:br/>
            <a:r>
              <a:t>4 KPI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Total/Berjalan/Selesai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Belanja !==CANCELLED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Tabs all/active/completed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SavedServices 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/dashboard/provider</a:t>
            </a:r>
            <a:br/>
            <a:r>
              <a:t>Kanban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4 StatCard Store/Wallet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Inbox/Clock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drag 3 kolom + dot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Buka jasa canvas 1280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/dashboard/admin</a:t>
            </a:r>
            <a:br/>
            <a:r>
              <a:t>5 KPI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Counter Rp tabular-nums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Area 14 hari + Category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dynamic ssr:false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moderasi DRAFT→ACTIVE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SHELL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240px Sidebar</a:t>
            </a:r>
            <a:br/>
            <a:r>
              <a:t>PageShell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dashboard/layout.tsx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wide + EmptyState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Skeleton + focus-ring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resep Stripe/PostHog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UI 25%  •  DESIGN SYSTEM — TITIK TERANG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№13/34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11  TOKENS — SINGLE SOURCE OF TRUTH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Oranye menyala di hitam pekat — hangat + tegas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457200" cy="320040"/>
          </a:xfrm>
          <a:prstGeom prst="rect">
            <a:avLst/>
          </a:prstGeom>
          <a:solidFill>
            <a:srgbClr val="F7F5EE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9456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59152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#FBFAF8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45720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foreground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62072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#0C0A09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45720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0040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#F97316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457200" cy="320040"/>
          </a:xfrm>
          <a:prstGeom prst="rect">
            <a:avLst/>
          </a:prstGeom>
          <a:solidFill>
            <a:srgbClr val="9A3412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7033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primary-strong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67912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#9A3412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20624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70832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#FFFFFF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9160"/>
            <a:ext cx="45720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70916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muted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873752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#F1EDE6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2194560"/>
            <a:ext cx="3840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23774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TIPOGRAFI — PLUS JAKARTA SANS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Display / Hero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2880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600" b="1" i="0">
                <a:solidFill>
                  <a:srgbClr val="0A0A0A"/>
                </a:solidFill>
                <a:latin typeface="Inter"/>
              </a:defRPr>
            </a:pPr>
            <a:r>
              <a:t>Jasa terbaik dari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154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600" b="1" i="0">
                <a:solidFill>
                  <a:srgbClr val="FF6B35"/>
                </a:solidFill>
                <a:latin typeface="Inter"/>
              </a:defRPr>
            </a:pPr>
            <a:r>
              <a:t>orang terpercaya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3520440"/>
            <a:ext cx="347472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H2 clamp(1.75rem,3vw,2.5rem) 700 • Body 0.9375rem • Caption 0.8125rem</a:t>
            </a:r>
            <a:br/>
            <a:r>
              <a:t>Angka statistik clamp(2rem,4vw,3rem) 800 • 4pt spacing • radius 2xl • hairline 1px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43891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MOTION — EXPO-OUT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150–200ms micro • 250–350ms meso • 600–1000ms macro • prefers-reduced-motion kill-switch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2194560"/>
            <a:ext cx="4480560" cy="374903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23774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REFERENSI &amp; ANTI-SLOP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269748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•  Fiverr 2024 — katalog harga hero + sticky order 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299008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•  Thumbtack — marketplace jasa lokal mental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28269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•  Linear — expo easing, kanban presisi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3575304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•  Vercel — editorial + noise + glow disiplin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3977639"/>
            <a:ext cx="411480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411480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DILARANG — AI SLOP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38912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✕  gradien ungu-biru default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461772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✕  emoji sebagai ikon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484632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✕  rounded-2xl tanpa shadow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507492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✕  6 kartu identik center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UI 25%  •  HALAMAN — HERO &amp; KATALOG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№14/34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12  HERO — R3F ORB + COMMAND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Kiri teks, kanan 3D — LCP tidak terganggu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6692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HERO KIRI — TEKS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0A0A0A"/>
                </a:solidFill>
                <a:latin typeface="Inter"/>
              </a:defRPr>
            </a:pPr>
            <a:r>
              <a:t>Badge + Headline editorial + Subcopy</a:t>
            </a:r>
            <a:br/>
            <a:r>
              <a:t>Search besar command + pills kategori + stats Counter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530352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• Search: /api/search-suggestions debounce 250ms combobox ARIA</a:t>
            </a:r>
            <a:br/>
            <a:r>
              <a:t>• Pills: Kep. Bangka Belitung → ?location filter kota</a:t>
            </a:r>
            <a:br/>
            <a:r>
              <a:t>• Stats: Counter GSAP, 38 provinsi, 46 jasa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256032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FFFF"/>
                </a:solidFill>
                <a:latin typeface="Inter"/>
              </a:defRPr>
            </a:pPr>
            <a:r>
              <a:t>Cari Jasa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434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1">
                <a:solidFill>
                  <a:srgbClr val="6E665D"/>
                </a:solidFill>
                <a:latin typeface="Inter"/>
              </a:defRPr>
            </a:pPr>
            <a:r>
              <a:t>Tanpa gradien ungu — hanya oranye glow CTA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194560"/>
            <a:ext cx="5120640" cy="374903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37744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HERO KANAN — R3F ORB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0" y="3474720"/>
            <a:ext cx="1645920" cy="1645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0" y="3611880"/>
            <a:ext cx="1371600" cy="1371600"/>
          </a:xfrm>
          <a:prstGeom prst="ellipse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52560" y="3749040"/>
            <a:ext cx="1097280" cy="1097280"/>
          </a:xfrm>
          <a:prstGeom prst="ellipse">
            <a:avLst/>
          </a:prstGeom>
          <a:solidFill>
            <a:srgbClr val="FFA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Float + MeshDistortMaterial • 600 sphere • dpr [1,1.25]</a:t>
            </a:r>
            <a:br/>
            <a:r>
              <a:t>dynamic ssr:false • prefersReducedMotion kill-switch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ARSITEKTUR  •  20 API + 13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№15/34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13  ARSITEKTUR — APP ROUTER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RSC force-dynamic + TanStack + dnd-kit + R3F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13 Routes</a:t>
            </a:r>
            <a:br/>
            <a:r>
              <a:t>ISR 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/ + /services + /service/[slug]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/checkout + /orders/[id]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/dashboard/* 3 role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sitemap 3600 + robots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20 Handler</a:t>
            </a:r>
            <a:br/>
            <a:r>
              <a:t>Zod Guard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auth/register + NextAuth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services GET+POST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orders FSM PATCH 409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admin stats groupBy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14 Helpers</a:t>
            </a:r>
            <a:br/>
            <a:r>
              <a:t>Pure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ids.ts ObjectId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order-status FSM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rate-limit Token Bucket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location city parser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COMPONENTS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40 Components</a:t>
            </a:r>
            <a:br/>
            <a:r>
              <a:t>shadcn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ui button/card/badge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services tile/filters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orders timeline/thread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provider kanban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DATA MODEL  •  7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№16/34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14  DATA — CITY INDEXED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7 collections, 5 indexes — bukan findMany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@@index</a:t>
            </a:r>
            <a:br/>
            <a:r>
              <a:t>[role,city]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city lowercased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23 provider + 1 admin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8 customer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avatar pravatar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@@index</a:t>
            </a:r>
            <a:br/>
            <a:r>
              <a:t>[categoryId,status]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46 jasa 44 ACTIVE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1 DRAFT 1 ARCHIVED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ratingAvg + totalReviews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galleryPool per kategori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@@index</a:t>
            </a:r>
            <a:br/>
            <a:r>
              <a:t>[customerId,status]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PENDING→COMPLETED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payment transfer/ewallet/cod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deadline + address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completedAt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BENEFIT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aggregateRaw</a:t>
            </a:r>
            <a:br/>
            <a:r>
              <a:t>-99.8%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city group+count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bukan distinct findMany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TOP category via groupBy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seed 46 jasa gallery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API &amp; KEAMANAN  •  FSM +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№17/34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15  API — 20 HANDLER, 14 RATE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Token Bucket + FSM 409 + CSRF double-submit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Token Bucket</a:t>
            </a:r>
            <a:br/>
            <a:r>
              <a:t>14 scopes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Map per lambda 10k sweep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x-vercel-forwarded-for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register 5/jam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login 10/15m per email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FSM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TRANSITIONS</a:t>
            </a:r>
            <a:br/>
            <a:r>
              <a:t>409 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PENDING→IN_PROGRESS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optimistic updateMany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where status:current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409 Conflict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Headers + Zod</a:t>
            </a:r>
            <a:br/>
            <a:r>
              <a:t>BOM 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nosniff/DENY/HSTS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no-store /api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escapeCsv =+-@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bcrypt 10 + JWT 30d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CSRF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Double Submit</a:t>
            </a:r>
            <a:br/>
            <a:r>
              <a:t>Strict 15m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cookie + header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whitelist /api/auth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impersonate 15m Strict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audit warn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TEKNOLOGI  •  NEXT 15.5.24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№18/34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16  TEKNOLOGI — BUKAN 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Patched CVE-2025-66478 — alasan 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69748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Next 15.5.24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RSC + ISR</a:t>
            </a:r>
            <a:br/>
            <a:r>
              <a:t>CVE patched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App Router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revalidate 60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metadata JSON-LD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middleware 45.2kB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Prisma 5.22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MongoDB Atlas</a:t>
            </a:r>
            <a:br/>
            <a:r>
              <a:t>ap-southeast-1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ObjectId @map(_id)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sin1 latensi rendah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free tier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vercel-prepare.js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R3F 9.7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600 sphere</a:t>
            </a:r>
            <a:br/>
            <a:r>
              <a:t>dpr 1.25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three 0.185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GSAP 3.15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reduced-motion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dynamic ssr:false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TanStack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keepPreviousData</a:t>
            </a:r>
            <a:br/>
            <a:r>
              <a:t>60% opacity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catalog 12/page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search 250ms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polling 15s/60s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recharts ssr:false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PENGUJIAN  •  149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№19/34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17  KUALITAS — 149 + 10 E2E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Bukan klaim — npm test 0 → build 13/13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69748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149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vitest run</a:t>
            </a:r>
            <a:br/>
            <a:r>
              <a:t>0 fail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47 kontras AA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21 ids + 20 csrf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17 FSM + 13 rate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12 location + 8 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10 E2E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Playwright 1.62</a:t>
            </a:r>
            <a:br/>
            <a:r>
              <a:t>3 browsers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chromium + Pixel5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iPhone SE 320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auth 6 + checkout 5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kanban drag + wishlist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13/13 OK</a:t>
            </a:r>
            <a:br/>
            <a:r>
              <a:t>102kB 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typecheck 0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vercel-build 1m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chunks 45.9k + 54k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three 375k + recharts 388k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286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2286000"/>
            <a:ext cx="26974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6060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Manual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1089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curl 200</a:t>
            </a:r>
            <a:br/>
            <a:r>
              <a:t>4 checks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3383280"/>
            <a:ext cx="22402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566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/api/services 12/page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search-suggestions AC 4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/ 174KB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sitemap rouge 200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DEPLOYMENT LIVE  •  BUKAN FIGMA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№20/34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18  LIVE — VERCEL sin1 + ATLAS SINGAPORE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Sudah live — curl 200, bukan screenshot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669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VERCEL — sin1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1" i="0">
                <a:solidFill>
                  <a:srgbClr val="0A0A0A"/>
                </a:solidFill>
                <a:latin typeface="Inter"/>
              </a:defRPr>
            </a:pPr>
            <a:r>
              <a:t>weblomba-rouge.vercel.app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• Project prj_dIxW... team_M7B2bxaZust55ICCdDABrf01</a:t>
            </a:r>
            <a:br/>
            <a:r>
              <a:t>• Build: vercel-prepare.js → prisma generate → next build (1m)</a:t>
            </a:r>
            <a:br/>
            <a:r>
              <a:t>• Env prod+preview sensitive (DATABASE_URL, AUTH_SECRET)</a:t>
            </a:r>
            <a:br/>
            <a:r>
              <a:t>• Headers: nosniff/DENY/HSTS + no-store /api</a:t>
            </a:r>
            <a:br/>
            <a:r>
              <a:t>• GitHub: FerzDevZ/web-lomba main dbb82e4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89120"/>
            <a:ext cx="530352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  curl https://weblomba-rouge.vercel.app  → 200 174KB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286000"/>
            <a:ext cx="5120640" cy="36576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46888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ATLAS — ap-southeast-1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97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1" i="0">
                <a:solidFill>
                  <a:srgbClr val="FF6B35"/>
                </a:solidFill>
                <a:latin typeface="Inter"/>
              </a:defRPr>
            </a:pPr>
            <a:r>
              <a:t>ferz.bj80suv.mongodb.net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0175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• Cluster ferz Free 8.0.29</a:t>
            </a:r>
            <a:br/>
            <a:r>
              <a:t>• DB servislokal 7 collections, 5 indexes</a:t>
            </a:r>
            <a:br/>
            <a:r>
              <a:t>• Network 0.0.0.0/0 + 119.235.214.92/32</a:t>
            </a:r>
            <a:br/>
            <a:r>
              <a:t>• 46 jasa, 23 provider, 21 kota, 146 order</a:t>
            </a:r>
            <a:br/>
            <a:r>
              <a:t>• Seed: galleryPool unsplash + addressSamples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4389120"/>
            <a:ext cx="4754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389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✓  API curl /api/services?location=Bangka → 2 jasa Hendri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DAMPAK  •  EKONOMI + SOSIAL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№21/34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19  DAMPAK — DARI SPANDUK KE MARKETPLACE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5 menit vs 1 hari — +Rp 500rb–2jt/bulan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EKONOMI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+3–5 Order</a:t>
            </a:r>
            <a:br/>
            <a:r>
              <a:t>/bulan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Hendri Bangka: 2 → 7 order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Rp 500rb–2jt tambahan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dari sepi → terukur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fee 0% MVP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WAKTU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5 Menit</a:t>
            </a:r>
            <a:br/>
            <a:r>
              <a:t>vs 1 Hari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Katalog 12/page vs WA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banding harga 1 klik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tanpa tanya DM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checkout 2 langkah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SOSIAL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UMKM Naik</a:t>
            </a:r>
            <a:br/>
            <a:r>
              <a:t>Kelas Digital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luar Jawa 38 provinsi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 jujur kurangi sengketa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chat transparan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inklusi HP-only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SKALA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10k Provider</a:t>
            </a:r>
            <a:br/>
            <a: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city indexed O(log n)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7 migrations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sin1 scale to zero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siap Pusher + Redis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KEUNGGULAN  • 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№22/34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20  KENAPA BUKAN G0JEK / WA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Moat: city parser + FSM + canvas — tidak ada di template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VS GOJEK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Fee 20%</a:t>
            </a:r>
            <a:br/>
            <a:r>
              <a:t>Transport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Mereka ride/food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Home-service bukan inti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ServisLokal spesifik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+ 38 provinsi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VS 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Tidak Ada</a:t>
            </a:r>
            <a:br/>
            <a:r>
              <a:t>Katalog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Harga formatIDR hero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Rating 4.48 + foto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galeri 3 + JSON-LD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bukan chat buta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VS THUMBTACK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US Only</a:t>
            </a:r>
            <a:br/>
            <a:r>
              <a:t>Bukan Lokal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38 provinsi UU 2022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Bahasa Indonesia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WIB Asia/Jakarta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pravatar + unsplash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MOAT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Teknis</a:t>
            </a:r>
            <a:br/>
            <a:r>
              <a:t>Tidak Template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lib/location.ts parser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provinces.ts 38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FSM 409 guard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canvas 1280 auto-kompresi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KREATIVITAS &amp; INOVASI 15%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№23/34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21  INOVASI — 4 HAL YANG TIDAK ADA DI 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Kreativitas diukur dari solusi, bukan dekorasi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Kolom Terpisah</a:t>
            </a:r>
            <a:br/>
            <a:r>
              <a:t>Indexed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bukan location contains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lowercased distinct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tanpa mode:insensitive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-99.8% payload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1280px</a:t>
            </a:r>
            <a:br/>
            <a:r>
              <a:t>Device Upload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Provider HP-only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auto-kompresi 0.82 jpeg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tolak data:image 300k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preview 3 galeri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FSM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409 Guard</a:t>
            </a:r>
            <a:br/>
            <a:r>
              <a:t>Transaksi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PENDING→COMPLETED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updateMany lock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recompute ratingAvg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customer hanya CANCELLED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240280"/>
            <a:ext cx="269748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51460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PETA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 i="0">
                <a:solidFill>
                  <a:srgbClr val="0A0A0A"/>
                </a:solidFill>
                <a:latin typeface="Inter"/>
              </a:defRPr>
            </a:pPr>
            <a:r>
              <a:t>38 Pills</a:t>
            </a:r>
            <a:br/>
            <a:r>
              <a:t>Pangkal Pinang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457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42900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chip provinsi nasional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Title Case formatCity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filter live ?location=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750">
                <a:solidFill>
                  <a:srgbClr val="6E665D"/>
                </a:solidFill>
                <a:latin typeface="Inter"/>
              </a:defRPr>
            </a:pPr>
            <a:r>
              <a:t>• Hendri terbukti 2 jasa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ROADMAP  •  3 SPRINT — 6 MINGGU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№24/34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22  ROADMAP &amp;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2000" b="1" i="0">
                <a:solidFill>
                  <a:srgbClr val="0A0A0A"/>
                </a:solidFill>
                <a:latin typeface="Inter"/>
              </a:defRPr>
            </a:pPr>
            <a:r>
              <a:t>Dari MVP ke scale — terukur, bukan wacana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2624328"/>
            <a:ext cx="152400" cy="1524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SPRINT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2 Minggu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1" i="0">
                <a:solidFill>
                  <a:srgbClr val="0A0A0A"/>
                </a:solidFill>
                <a:latin typeface="Inter"/>
              </a:defRPr>
            </a:pPr>
            <a:r>
              <a:t>Transaksi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Midtrans 99.9% + Upstash Redis distributed + AuditLog collection | target fee 0% → 5%</a:t>
            </a:r>
          </a:p>
        </p:txBody>
      </p:sp>
      <p:sp>
        <p:nvSpPr>
          <p:cNvPr id="16" name="Oval 15"/>
          <p:cNvSpPr/>
          <p:nvPr/>
        </p:nvSpPr>
        <p:spPr>
          <a:xfrm>
            <a:off x="4343400" y="2624328"/>
            <a:ext cx="152400" cy="1524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92608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SPRINT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1089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2 Minggu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3832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1" i="0">
                <a:solidFill>
                  <a:srgbClr val="0A0A0A"/>
                </a:solidFill>
                <a:latin typeface="Inter"/>
              </a:defRPr>
            </a:pPr>
            <a:r>
              <a:t>Realtime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886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Pusher &lt;100ms + Nominatim autocomplete + Leaflet peta + near-me geolocation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183880" y="2624328"/>
            <a:ext cx="152400" cy="1524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92608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SPRINT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1089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2 Minggu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3832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1" i="0">
                <a:solidFill>
                  <a:srgbClr val="0A0A0A"/>
                </a:solidFill>
                <a:latin typeface="Inter"/>
              </a:defRPr>
            </a:pPr>
            <a:r>
              <a:t>Ops &amp;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886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Sentry + Neon branch DB + Cloudinary CDN + Lighthouse 95+ + SEO OG 1200x630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715000"/>
            <a:ext cx="11274552" cy="10972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BISNIS MODEL — FREEMIUM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807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Gratis buka jasa  →  Komisi 5% COMPLETED  •  Featured Rp 25k/minggu  •  Provider Pro Rp 49k/bulan  —  MVP fee 0% untuk traction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PENUTUP  •  MANIFESTO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№25/34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5669280" cy="5303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82496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29968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77440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24912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72384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19856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67328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14800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62272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9744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57216" y="100584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7552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35024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82496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29968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77440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24912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72384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19856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767328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14800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62272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09744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57216" y="1170432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7552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35024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682496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029968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377440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724912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072384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9856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767328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14800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62272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9744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157216" y="1335024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0080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87552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335024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82496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029968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77440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724912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072384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419856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767328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114800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462272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809744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157216" y="1499616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0080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87552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35024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682496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029968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377440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24912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072384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19856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767328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114800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462272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809744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157216" y="1664208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20116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600" b="1" i="0">
                <a:solidFill>
                  <a:srgbClr val="FFFFFF"/>
                </a:solidFill>
                <a:latin typeface="Inter"/>
              </a:defRPr>
            </a:pPr>
            <a:r>
              <a:t>Punya keahlian?</a:t>
            </a:r>
            <a:br/>
            <a:r>
              <a:t>Ubah jadi penghasilan.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2926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00" b="0" i="0">
                <a:solidFill>
                  <a:srgbClr val="FFFFFF"/>
                </a:solidFill>
                <a:latin typeface="Inter"/>
              </a:defRPr>
            </a:pPr>
            <a:r>
              <a:t>Buka jasa gratis — terima pesanan dari 38 provinsi.</a:t>
            </a:r>
            <a:br/>
            <a:r>
              <a:t>Zero AI Slop. Setiap piksel punya alasan.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3657600"/>
            <a:ext cx="530352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27/30 Hallmark • 149 tests • 13/13 build • LIVE 200 OK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" y="484632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4846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weblomba-rouge.vercel.app →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83680" y="822960"/>
            <a:ext cx="51206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0" y="10515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3 ALASAN JURI PILIH KAMI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0" y="14173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06640" y="14173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Live, bukan Figma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06640" y="16733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46 jasa bisa dipesan sekarang, Hendri Bangka terbukti 2 jasa via ?location=Bangka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0" y="2194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06640" y="219456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Teknis dalam, bukan template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06640" y="24505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city indexed, FSM 409, rate 14, canvas 1280 — file:baris siap jawab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0" y="2971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06640" y="297180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Dampak nyata, bukan mock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06640" y="32278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5 menit vs 1 hari, +Rp 500rb–2jt/bulan, 38 provinsi Aceh→Papua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58000" y="3931920"/>
            <a:ext cx="457200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1">
                <a:solidFill>
                  <a:srgbClr val="6E665D"/>
                </a:solidFill>
                <a:latin typeface="Inter"/>
              </a:defRPr>
            </a:pPr>
            <a:r>
              <a:t>“Designing Impactful Digital Solutions for Everyday Life”</a:t>
            </a:r>
            <a:br/>
            <a:r>
              <a:t>— bukan tagline, ini Hendri yang sepi jadi punya etalase nasional.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99616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47088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9456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4203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89504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36976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84448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3192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939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26864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74336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21808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1675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64224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11696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59168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0664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5411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01584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49056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96528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147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38944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6416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888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81360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28832" y="457200"/>
            <a:ext cx="38100" cy="381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Q&amp;A  •  DEMO LIVE 3 MENIT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№26/34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914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TERIMA KASIH  •  Q&amp;A  •  DEMO 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13258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200" b="1" i="0">
                <a:solidFill>
                  <a:srgbClr val="FFFFFF"/>
                </a:solidFill>
                <a:latin typeface="Inter"/>
              </a:defRPr>
            </a:pPr>
            <a:r>
              <a:t>Siap tanya —</a:t>
            </a:r>
            <a:br/>
            <a:r>
              <a:t>kami jawab dengan file:baris + test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46888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800" b="1" i="0">
                <a:solidFill>
                  <a:srgbClr val="0A0A0A"/>
                </a:solidFill>
                <a:latin typeface="Inter"/>
              </a:defRPr>
            </a:pPr>
            <a:r>
              <a:t>QR</a:t>
            </a:r>
            <a:br/>
            <a:r>
              <a:t>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SCAN DEMO BANGKA</a:t>
            </a:r>
            <a:br/>
            <a:r>
              <a:t>weblomba-rouge.vercel.app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24688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admin@servislokal.id / password123</a:t>
            </a:r>
            <a:br/>
            <a:r>
              <a:t>Budi (Customer) • Hendri Babel (Provider) • Sari Bandung</a:t>
            </a:r>
            <a:br/>
            <a:r>
              <a:t>Dewi (Admin) — moderasi DRAFT→ACTIVE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35204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Demo 90 detik: Pill Bangka → Checkout alamat chip → Kanban drag → Confetti → Ulasan 5★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0" y="246888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26517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3 PERTANYAAN JURI — KAMI SIAP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2971800"/>
            <a:ext cx="3566160" cy="50292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30449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Kenapa city indexed,</a:t>
            </a:r>
            <a:br/>
            <a:r>
              <a:t>bukan location?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3611880"/>
            <a:ext cx="3566160" cy="50292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0" y="36850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Kenapa canvas 1280</a:t>
            </a:r>
            <a:br/>
            <a:r>
              <a:t>untuk provider HP?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4251960"/>
            <a:ext cx="3566160" cy="50292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0" y="43251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Kenapa FSM guard 409</a:t>
            </a:r>
            <a:br/>
            <a:r>
              <a:t>&amp; rate limit 14 rule?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49834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1">
                <a:solidFill>
                  <a:srgbClr val="6E665D"/>
                </a:solidFill>
                <a:latin typeface="Inter"/>
              </a:defRPr>
            </a:pPr>
            <a:r>
              <a:t>— jawab: lib/location.ts:12, buka-jasa-form.tsx:44, order-status.ts:8 + tests 149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TIM SERVISLOKAL  •  EMOSTFET 11  •  31 AGUSTUS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LAMPIRAN  •  PEMENUHAN RUBRIK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№27/34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26  CHECKLIST — GUIDE BOOK 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Semua output wajib ada — tidak ada yang miss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292608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RUBRIK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103120"/>
            <a:ext cx="109728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488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BOBOT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103120"/>
            <a:ext cx="502920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488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BUKTI SLIDE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2103120"/>
            <a:ext cx="164592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Pemahaman Masalah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423160"/>
            <a:ext cx="1097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468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423160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4688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Slide 4–5: 6 masalah + benchmark 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242316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4688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43200"/>
            <a:ext cx="292608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788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User Experience 30%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2743200"/>
            <a:ext cx="109728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27889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30%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743200"/>
            <a:ext cx="502920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27889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Slide 8–12: flow 7 step + FSM + Kanban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2743200"/>
            <a:ext cx="164592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27889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63240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108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User Interface 25%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3063240"/>
            <a:ext cx="1097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0" y="3108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25%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3063240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1089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Slide 13–14: Titik Terang token + hero R3F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760" y="306324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31089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383280"/>
            <a:ext cx="292608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429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Kreativitas &amp; Inovasi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3383280"/>
            <a:ext cx="109728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3429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15%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3383280"/>
            <a:ext cx="502920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34290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Slide 21–23: city, canvas, FSM moat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760" y="3383280"/>
            <a:ext cx="164592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3429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703320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749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Presentasi 10%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0" y="3703320"/>
            <a:ext cx="1097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0" y="3749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10%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3703320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0" y="37490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Slide 2,26,28: agenda, Q&amp;A, demo QR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0" y="370332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0" y="37490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023360"/>
            <a:ext cx="292608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069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Prototype Live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80" y="4023360"/>
            <a:ext cx="109728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74720" y="4069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Wajib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4023360"/>
            <a:ext cx="502920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0" y="4069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weblomba-rouge.vercel.app + 13 pages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09760" y="4023360"/>
            <a:ext cx="1645920" cy="32004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01200" y="4069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 LIVE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343400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389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Dokumen PDF 16p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83280" y="4343400"/>
            <a:ext cx="1097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74720" y="4389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Wajib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80560" y="4343400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0" y="43891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ServisLokal-Dokumentasi-Lengkap-Full.pdf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09760" y="434340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0" y="43891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✓ 167KB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LAMPIRAN  •  BUKTI TEKNIS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№28/34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27  FILE:BARIS — SIAP AUDIT JURI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Klaim tanpa file = hoax — kami ada file:baris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500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city indexed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134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lib/location.ts:18 + prisma/schema.prisma:@@index([role,city]) + backfill-city.js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0" y="2377440"/>
            <a:ext cx="3657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0" y="23774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07208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FSM 409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880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lib/order-status.ts:11 TRANSITIONS + app/api/orders/[id]/route.ts:89 updateMany where 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338560" y="2944368"/>
            <a:ext cx="3657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0" y="29443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74136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48386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Rate 14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4472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lib/rate-limit.ts:8 Token Bucket + lib/api-guard.ts:14 enforceRateLimit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38560" y="3511296"/>
            <a:ext cx="3657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0" y="351129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41064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0507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Canvas 1280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01421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components/provider/buka-jasa-form.tsx:52 canvas.toBlob jpeg 0.82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338560" y="4078224"/>
            <a:ext cx="3657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0" y="407822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07992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177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R3F 600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58114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components/three/hero-orb.tsx:22 PARTICLE_COUNT 600 + dpr [1,1.25]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338560" y="4645152"/>
            <a:ext cx="3657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38560" y="46451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7492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184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Tests 149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14807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tests/*.test.ts 9 files + vitest run 149 pass + e2e 10 specs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338560" y="5212080"/>
            <a:ext cx="3657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338560" y="52120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Semua bisa di-curl, di-run, di-test — bukan screenshot Figma.    npx tsc --noEmit → 0   •   npm test → 149 pass   •   npm run build → 13/13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TIM  •  MAX 3 ORANG  •  GUIDE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№29/34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29  TIM — CROSS-SCHOOL, 1 VISI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3 orang, 3 peran — tanpa tumpang tindih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361188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56032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560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2491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1" i="0">
                <a:solidFill>
                  <a:srgbClr val="0A0A0A"/>
                </a:solidFill>
                <a:latin typeface="Inter"/>
              </a:defRPr>
            </a:pPr>
            <a:r>
              <a:t>Ferdinand D.S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2608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Ketua • SMK N 2 PKP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46120"/>
            <a:ext cx="31546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29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Fullstack • App Router + API 20 + Deploy sin1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Next 15.5.24 CVE patched, Prisma 5.22, Vercel 1m build, 149 tests green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28600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286000"/>
            <a:ext cx="36118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0" y="2560320"/>
            <a:ext cx="548640" cy="54864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560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72491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1" i="0">
                <a:solidFill>
                  <a:srgbClr val="0A0A0A"/>
                </a:solidFill>
                <a:latin typeface="Inter"/>
              </a:defRPr>
            </a:pPr>
            <a:r>
              <a:t>Andreyansyah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92608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UI/UX • SMK N 1 PKP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246120"/>
            <a:ext cx="31546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429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Design System • Titik Terang + R3F Orb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8862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Swiss Safety Orange, 12/page grid, GSAP Counter, shadcn 40 components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28600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2286000"/>
            <a:ext cx="3611880" cy="508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58200" y="2560320"/>
            <a:ext cx="548640" cy="54864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2560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72491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1" i="0">
                <a:solidFill>
                  <a:srgbClr val="0A0A0A"/>
                </a:solidFill>
                <a:latin typeface="Inter"/>
              </a:defRPr>
            </a:pPr>
            <a:r>
              <a:t>Alif Akbar 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92608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Backend &amp; QA • SMAS At-Tauhid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3246120"/>
            <a:ext cx="3154680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429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FSM 409 + Rate 14 + E2E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38862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lib/order-status, location city indexed, Playwright 320px, audit 14 rule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TIMELINE  •  14 JULI → 11 SEPTEMBER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№30/34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30  8 TAHAP — TIDAK ADA YANG TERLEWAT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Pendaftaran sampai Pembagian — kami siap 25–30 Agustus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14–28 JUL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Pendaftaran</a:t>
            </a:r>
            <a:br/>
            <a:r>
              <a:t>Rp 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✓ Bayar + daftar</a:t>
            </a:r>
            <a:br/>
            <a:r>
              <a:t>✓ Guide book dibaca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4248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1408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31 JUL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Technical Meeting</a:t>
            </a:r>
            <a:br/>
            <a:r>
              <a:t>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✓ Hadir wajib</a:t>
            </a:r>
            <a:br/>
            <a:r>
              <a:t>✓ Tanya rubrik X%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11296" y="2286000"/>
            <a:ext cx="1325880" cy="2926080"/>
          </a:xfrm>
          <a:prstGeom prst="rect">
            <a:avLst/>
          </a:prstGeom>
          <a:solidFill>
            <a:srgbClr val="FF6B35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11296" y="2286000"/>
            <a:ext cx="132588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FFFFFF"/>
                </a:solidFill>
                <a:latin typeface="Inter"/>
              </a:defRPr>
            </a:pPr>
            <a:r>
              <a:t>25–30 AGT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456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Pengumpulan</a:t>
            </a:r>
            <a:br/>
            <a:r>
              <a:t>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● PPT 34 + PDF 16</a:t>
            </a:r>
            <a:br/>
            <a:r>
              <a:t>● Prototype 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37176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38344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5504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1–2 SEP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Seleksi</a:t>
            </a:r>
            <a:br/>
            <a:r>
              <a:t>Juri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• 5 rubrik X% dinilai</a:t>
            </a:r>
            <a:br/>
            <a:r>
              <a:t>• 149 tests diverifikasi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64224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65392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3 SEP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552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Pengumuman</a:t>
            </a:r>
            <a:br/>
            <a:r>
              <a:t>Grand Final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• Lolos → 7 Sep</a:t>
            </a:r>
            <a:br/>
            <a:r>
              <a:t>• Demo 5 menit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91272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92440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7 SEP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Presentasi</a:t>
            </a:r>
            <a:br/>
            <a:r>
              <a:t>Grand Final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★ Demo live 90s</a:t>
            </a:r>
            <a:br/>
            <a:r>
              <a:t>★ Q&amp;A file:baris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19488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56648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8 SEP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48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Pengumuman</a:t>
            </a:r>
            <a:br/>
            <a:r>
              <a:t>Juara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48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• Podium 1-3</a:t>
            </a:r>
            <a:br/>
            <a:r>
              <a:t>• Sertifikat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45368" y="3657600"/>
            <a:ext cx="201168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146536" y="2286000"/>
            <a:ext cx="1325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283696" y="251460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1" i="0">
                <a:solidFill>
                  <a:srgbClr val="6E665D"/>
                </a:solidFill>
                <a:latin typeface="Inter"/>
              </a:defRPr>
            </a:pPr>
            <a:r>
              <a:t>11 SEP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83696" y="28803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Pembagian</a:t>
            </a:r>
            <a:br/>
            <a:r>
              <a:t>Hadiah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83696" y="3520440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• Trophy + uang</a:t>
            </a:r>
            <a:br/>
            <a:r>
              <a:t>• Dokumentasi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669280"/>
            <a:ext cx="11274552" cy="4114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66928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Hari ini 31 Agustus — deadline Drive 25–30 Agustus ON TRACK  •  Build 13/13  •  Tests 149  •  Live 200 OK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PERSYARATAN  •  8 SYARAT KOMPETISI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№31/34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31  8 SYARAT — SEMUA TERPENUHI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Syarat guide book bukan checklist — kami buktikan file:baris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500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13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Tim max 3 orang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134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3 orang cross-school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3134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SMK N 2 + SMK N 1 + SMAS — ketua Ferdinand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15768"/>
            <a:ext cx="11274552" cy="4572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2549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Bayar Rp 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788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Lunas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7889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Bukti transfer 14–28 Juli — simpan di Drive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0098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64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Orisinal, bukan 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264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Zero template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26440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46 jasa manual, city parser lib/location.ts:12, bukan CRUD generator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66744"/>
            <a:ext cx="11274552" cy="4572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7647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7398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Prototype klik interaktif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7398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Live Vercel sin1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39896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13 pages, 20 API, curl 200 174KB — bukan Figma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42232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251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153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Desain tampilan website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2153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Titik Terang 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1538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Swiss Safety Orange #FF6B35, 16-col, Inter, hairline 1px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617720"/>
            <a:ext cx="11274552" cy="4572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72744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690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Dokumen PDF 16 hal 16:9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690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167KB 1440x810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69087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122 image objects, flow HD, persona 4, peta 38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93208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2029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Ikut Technical Meeting 31 Juli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166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Hadir 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1663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Catat rubrik X% — 20/30/25/15/10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568696"/>
            <a:ext cx="11274552" cy="457200"/>
          </a:xfrm>
          <a:prstGeom prst="rect">
            <a:avLst/>
          </a:prstGeom>
          <a:solidFill>
            <a:srgbClr val="F1EDE6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67842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641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0A0A0A"/>
                </a:solidFill>
                <a:latin typeface="Inter"/>
              </a:defRPr>
            </a:pPr>
            <a:r>
              <a:t>Kumpul Drive 25–30 Agt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641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Siap upload 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564184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PPT 34 + PDF + repo github public + video 90s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KEAMANAN  •  14 RULE — BUKAN KLAIM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№32/34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32  14 ATURAN — SIAP AUDIT JURI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Security by checklist, bukan security by hope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591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CSRF double-submit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4203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cookie + header + whitelist /api/auth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4203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middleware.ts:22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8600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28600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591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Rate 14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54203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Token Bucket Map + sweep 10k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54203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lib/rate-limit.ts:8 + api-guard.ts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6324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06324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1363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Zod strict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31927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trim + max 30 char + escapeRegex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31927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lib/zod.ts + search route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06324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06324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1363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RBAC 3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31927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sameId ObjectId + impersonate 15m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31927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auth.ts + admin route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4048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84048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9136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FSM guard 409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409651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updateMany where status current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0965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orders/[id]/route.ts:89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84048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384048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39136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Headers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409651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nosniff/DENY/HSTS + no-store /api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40965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next.config.mjs + middleware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61772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61772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469087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BOM &amp; 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487375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escapeCsv =+-@ + bcrypt 10 + JWT 30d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48737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lib/csv.ts + auth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617720"/>
            <a:ext cx="5577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461772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3952" y="469087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800" b="1" i="0">
                <a:solidFill>
                  <a:srgbClr val="0A0A0A"/>
                </a:solidFill>
                <a:latin typeface="Inter"/>
              </a:defRPr>
            </a:pPr>
            <a:r>
              <a:t>Img allowlist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487375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6E665D"/>
                </a:solidFill>
                <a:latin typeface="Inter"/>
              </a:defRPr>
            </a:pPr>
            <a:r>
              <a:t>unsplash + pravatar + avatars.githubusercontent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487375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600" b="0" i="0">
                <a:solidFill>
                  <a:srgbClr val="FF6B35"/>
                </a:solidFill>
                <a:latin typeface="Inter"/>
              </a:defRPr>
            </a:pPr>
            <a:r>
              <a:t>next.config.mjs images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RISIKO  •  JUJUR — BUKAN MANIS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№33/34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33  3 RISIKO — 3 MITIGASI SIAP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Juri suka kejujuran — kami ungkap dan atasi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127455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45720" cy="1051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RISIKO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Provider sepi → churn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146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Mitigasi: Freemium 0% fee 3 bulan + featured Rp25k/minggu + push WA order baru. KPI: 7 hari first order.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11880"/>
            <a:ext cx="1127455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45720" cy="10515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RISIKO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Sengketa rating palsu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7490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Mitigasi: Hanya COMPLETED boleh review + 60 hari window + recompute transaksi. Appeal via admin moderasi.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1127455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45720" cy="10515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RISIKO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0A0A0A"/>
                </a:solidFill>
                <a:latin typeface="Inter"/>
              </a:defRPr>
            </a:pPr>
            <a:r>
              <a:t>Scale 10k → Atlas free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98348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Mitigasi: Neon branch + Cloudinary CDN + aggregateRaw -99.8% + Pusher &lt;100ms. Budget sin1 scale-to-zero.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Transparan &gt; sempurna — semua risiko ada owner + tanggal + metrik.   Sprint 1: fee &amp; Redis   •   Sprint 2: Pusher   •   Sprint 3: Sentry + CDN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LAMPIRAN  •  BUKTI LIVE — CURL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840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700" b="0" i="0">
                <a:solidFill>
                  <a:srgbClr val="6E665D"/>
                </a:solidFill>
                <a:latin typeface="Inter"/>
              </a:defRPr>
            </a:pPr>
            <a:r>
              <a:t>№34/34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12700"/>
          </a:xfrm>
          <a:prstGeom prst="rect">
            <a:avLst/>
          </a:prstGeom>
          <a:solidFill>
            <a:srgbClr val="E8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1" i="0">
                <a:solidFill>
                  <a:srgbClr val="FF6B35"/>
                </a:solidFill>
                <a:latin typeface="Inter"/>
              </a:defRPr>
            </a:pPr>
            <a:r>
              <a:t>34  BUKTI — BUKAN SCREENSHOT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54864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800" b="1" i="0">
                <a:solidFill>
                  <a:srgbClr val="0A0A0A"/>
                </a:solidFill>
                <a:latin typeface="Inter"/>
              </a:defRPr>
            </a:pPr>
            <a:r>
              <a:t>Copy-paste di terminal juri — semua hijau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697480" cy="1645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curl 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curl https://weblomba-rouge.vercel.app → 200 174KB</a:t>
            </a:r>
            <a:br/>
            <a:r>
              <a:t>HTML + ISR 60 + JSON-LD aggregateRating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286000"/>
            <a:ext cx="2697480" cy="1645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4231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curl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97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curl /api/services?location=Bangka → 200 [2 jasa]</a:t>
            </a:r>
            <a:br/>
            <a:r>
              <a:t>Hendri Babel terbukti city indexed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97480" cy="1645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231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npm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npm test → 149 pass 9 files</a:t>
            </a:r>
            <a:br/>
            <a:r>
              <a:t>vitest run + coverage kontras AA 47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97480" cy="1645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4231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FF6B35"/>
                </a:solidFill>
                <a:latin typeface="Inter"/>
              </a:defRPr>
            </a:pPr>
            <a:r>
              <a:t>build 13/13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697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npm run build → 13/13 ✓</a:t>
            </a:r>
            <a:br/>
            <a:r>
              <a:t>102kB First Load, chunks 45.9k + 54k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1127455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80560"/>
            <a:ext cx="10908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1" i="0">
                <a:solidFill>
                  <a:srgbClr val="6E665D"/>
                </a:solidFill>
                <a:latin typeface="Inter"/>
              </a:defRPr>
            </a:pPr>
            <a:r>
              <a:t>REPO &amp; DOKUMEN — SIAP DRIVE 25–30 AGT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700" b="0" i="0">
                <a:solidFill>
                  <a:srgbClr val="0A0A0A"/>
                </a:solidFill>
                <a:latin typeface="Inter"/>
              </a:defRPr>
            </a:pPr>
            <a:r>
              <a:t>github.com/FerzDevZ/web-lomba  main  dbb82e4  •  docs/ServisLokal-Dokumentasi-Lengkap-Full.pdf  167KB  •  ppt/ServisLokal-ULTIMATE-FINAL-EMOSTFET11.pptx  34 slide 13.33×7.5in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035040"/>
            <a:ext cx="11274552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npx tsc --noEmit → 0  •  npm test → 149 pass  •  curl 200 OK — Juri tinggal run, bukan percaya kata-kata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ServisLokal - EMOSTFET 11 - Designing Impactful Digital Solutions</dc:title>
  <dc:subject/>
  <dc:creator>ServisLokal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